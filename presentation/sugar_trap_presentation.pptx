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4.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5.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Nutrition coverage</c:v>
                </c:pt>
              </c:strCache>
            </c:strRef>
          </c:tx>
          <c:spPr>
            <a:solidFill>
              <a:srgbClr val="2E7D32"/>
            </a:solidFill>
            <a:effectLst/>
          </c:spPr>
          <c:invertIfNegative val="0"/>
          <c:dLbls>
            <c:numFmt formatCode="0.0&quot;%&quot;" sourceLinked="0"/>
            <c:txPr>
              <a:bodyPr/>
              <a:lstStyle/>
              <a:p>
                <a:pPr>
                  <a:defRPr b="0" i="0" strike="noStrike" sz="1100" u="none">
                    <a:solidFill>
                      <a:srgbClr val="1A1A1A"/>
                    </a:solidFill>
                    <a:latin typeface="Arial"/>
                  </a:defRPr>
                </a:pPr>
              </a:p>
            </c:txPr>
            <c:showLegendKey val="0"/>
            <c:showVal val="1"/>
            <c:showCatName val="0"/>
            <c:showSerName val="0"/>
            <c:showPercent val="0"/>
            <c:showBubbleSize val="0"/>
            <c:showLeaderLines val="0"/>
          </c:dLbls>
          <c:dPt>
            <c:idx val="0"/>
            <c:invertIfNegative val="0"/>
            <c:bubble3D val="0"/>
            <c:spPr>
              <a:solidFill>
                <a:srgbClr val="2E7D32"/>
              </a:solidFill>
              <a:effectLst/>
            </c:spPr>
          </c:dPt>
          <c:dPt>
            <c:idx val="1"/>
            <c:invertIfNegative val="0"/>
            <c:bubble3D val="0"/>
            <c:spPr>
              <a:solidFill>
                <a:srgbClr val="2E7D32"/>
              </a:solidFill>
              <a:effectLst/>
            </c:spPr>
          </c:dPt>
          <c:dPt>
            <c:idx val="2"/>
            <c:invertIfNegative val="0"/>
            <c:bubble3D val="0"/>
            <c:spPr>
              <a:solidFill>
                <a:srgbClr val="2E7D32"/>
              </a:solidFill>
              <a:effectLst/>
            </c:spPr>
          </c:dPt>
          <c:dPt>
            <c:idx val="3"/>
            <c:invertIfNegative val="0"/>
            <c:bubble3D val="0"/>
            <c:spPr>
              <a:solidFill>
                <a:srgbClr val="2E7D32"/>
              </a:solidFill>
              <a:effectLst/>
            </c:spPr>
          </c:dPt>
          <c:dPt>
            <c:idx val="4"/>
            <c:invertIfNegative val="0"/>
            <c:bubble3D val="0"/>
            <c:spPr>
              <a:solidFill>
                <a:srgbClr val="2E7D32"/>
              </a:solidFill>
              <a:effectLst/>
            </c:spPr>
          </c:dPt>
          <c:dPt>
            <c:idx val="5"/>
            <c:invertIfNegative val="0"/>
            <c:bubble3D val="0"/>
            <c:spPr>
              <a:solidFill>
                <a:srgbClr val="C62828"/>
              </a:solidFill>
              <a:effectLst/>
            </c:spPr>
          </c:dPt>
          <c:cat>
            <c:multiLvlStrRef>
              <c:f>Sheet1!$A$2:$A$7</c:f>
              <c:multiLvlStrCache>
                <c:ptCount val="6"/>
                <c:lvl>
                  <c:pt idx="0">
                    <c:v>Italy</c:v>
                  </c:pt>
                  <c:pt idx="1">
                    <c:v>Germany</c:v>
                  </c:pt>
                  <c:pt idx="2">
                    <c:v>Spain</c:v>
                  </c:pt>
                  <c:pt idx="3">
                    <c:v>France</c:v>
                  </c:pt>
                  <c:pt idx="4">
                    <c:v>United Kingdom</c:v>
                  </c:pt>
                  <c:pt idx="5">
                    <c:v>United States</c:v>
                  </c:pt>
                </c:lvl>
              </c:multiLvlStrCache>
            </c:multiLvlStrRef>
          </c:cat>
          <c:val>
            <c:numRef>
              <c:f>Sheet1!$B$2:$B$7</c:f>
              <c:numCache>
                <c:formatCode>General</c:formatCode>
                <c:ptCount val="6"/>
                <c:pt idx="0">
                  <c:v>95</c:v>
                </c:pt>
                <c:pt idx="1">
                  <c:v>92.5</c:v>
                </c:pt>
                <c:pt idx="2">
                  <c:v>91.8</c:v>
                </c:pt>
                <c:pt idx="3">
                  <c:v>89.1</c:v>
                </c:pt>
                <c:pt idx="4">
                  <c:v>86.3</c:v>
                </c:pt>
                <c:pt idx="5">
                  <c:v>5.3</c:v>
                </c:pt>
              </c:numCache>
            </c:numRef>
          </c:val>
        </c:ser>
        <c:dLbls>
          <c:numFmt formatCode="0.0&quot;%&quot;" sourceLinked="0"/>
          <c:txPr>
            <a:bodyPr/>
            <a:lstStyle/>
            <a:p>
              <a:pPr>
                <a:defRPr b="0" i="0" strike="noStrike" sz="1100" u="none">
                  <a:solidFill>
                    <a:srgbClr val="1A1A1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A1A1A"/>
                </a:solidFill>
                <a:latin typeface="Arial"/>
              </a:defRPr>
            </a:pPr>
            <a:endParaRPr lang="en-US"/>
          </a:p>
        </c:txPr>
        <c:crossAx val="2094734552"/>
        <c:crosses val="autoZero"/>
        <c:auto val="1"/>
        <c:lblAlgn val="ctr"/>
        <c:noMultiLvlLbl val="1"/>
      </c:catAx>
      <c:valAx>
        <c:axId val="2094734552"/>
        <c:scaling>
          <c:orientation val="minMax"/>
          <c:max val="100"/>
        </c:scaling>
        <c:delete val="0"/>
        <c:axPos val="b"/>
        <c:majorGridlines>
          <c:spPr>
            <a:ln w="12700" cap="flat">
              <a:solidFill>
                <a:srgbClr val="EEEEEE"/>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E6E6E"/>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Quadrant</c:v>
                </c:pt>
              </c:strCache>
            </c:strRef>
          </c:tx>
          <c:spPr>
            <a:solidFill>
              <a:schemeClr val="accent1"/>
            </a:solidFill>
            <a:ln w="9525" cap="flat">
              <a:solidFill>
                <a:srgbClr val="F9F9F9"/>
              </a:solidFill>
              <a:prstDash val="solid"/>
              <a:round/>
            </a:ln>
            <a:effectLst/>
          </c:spPr>
          <c:dPt>
            <c:idx val="0"/>
            <c:bubble3D val="0"/>
            <c:spPr>
              <a:solidFill>
                <a:srgbClr val="C62828"/>
              </a:solidFill>
              <a:effectLst/>
            </c:spPr>
          </c:dPt>
          <c:dPt>
            <c:idx val="1"/>
            <c:bubble3D val="0"/>
            <c:spPr>
              <a:solidFill>
                <a:srgbClr val="A5D6A7"/>
              </a:solidFill>
              <a:effectLst/>
            </c:spPr>
          </c:dPt>
          <c:dPt>
            <c:idx val="2"/>
            <c:bubble3D val="0"/>
            <c:spPr>
              <a:solidFill>
                <a:srgbClr val="2E7D32"/>
              </a:solidFill>
              <a:effectLst/>
            </c:spPr>
          </c:dPt>
          <c:dPt>
            <c:idx val="3"/>
            <c:bubble3D val="0"/>
            <c:spPr>
              <a:solidFill>
                <a:srgbClr val="FFB74D"/>
              </a:solidFill>
              <a:effectLst/>
            </c:spPr>
          </c:dPt>
          <c:dLbls>
            <c:dLbl>
              <c:idx val="0"/>
              <c:numFmt formatCode="0.0&quot;%&quot;" sourceLinked="0"/>
              <c:spPr/>
              <c:txPr>
                <a:bodyPr/>
                <a:lstStyle/>
                <a:p>
                  <a:pPr>
                    <a:defRPr sz="1100" b="0" i="0" u="none" strike="noStrike">
                      <a:solidFill>
                        <a:srgbClr val="FFFFFF"/>
                      </a:solidFill>
                      <a:latin typeface="Arial"/>
                    </a:defRPr>
                  </a:pPr>
                </a:p>
              </c:txPr>
              <c:showLegendKey val="0"/>
              <c:showVal val="1"/>
              <c:showCatName val="0"/>
              <c:showSerName val="0"/>
              <c:showPercent val="0"/>
              <c:showBubbleSize val="0"/>
            </c:dLbl>
            <c:dLbl>
              <c:idx val="1"/>
              <c:numFmt formatCode="0.0&quot;%&quot;" sourceLinked="0"/>
              <c:spPr/>
              <c:txPr>
                <a:bodyPr/>
                <a:lstStyle/>
                <a:p>
                  <a:pPr>
                    <a:defRPr sz="1100" b="0" i="0" u="none" strike="noStrike">
                      <a:solidFill>
                        <a:srgbClr val="FFFFFF"/>
                      </a:solidFill>
                      <a:latin typeface="Arial"/>
                    </a:defRPr>
                  </a:pPr>
                </a:p>
              </c:txPr>
              <c:showLegendKey val="0"/>
              <c:showVal val="1"/>
              <c:showCatName val="0"/>
              <c:showSerName val="0"/>
              <c:showPercent val="0"/>
              <c:showBubbleSize val="0"/>
            </c:dLbl>
            <c:dLbl>
              <c:idx val="2"/>
              <c:numFmt formatCode="0.0&quot;%&quot;" sourceLinked="0"/>
              <c:spPr/>
              <c:txPr>
                <a:bodyPr/>
                <a:lstStyle/>
                <a:p>
                  <a:pPr>
                    <a:defRPr sz="1100" b="0" i="0" u="none" strike="noStrike">
                      <a:solidFill>
                        <a:srgbClr val="FFFFFF"/>
                      </a:solidFill>
                      <a:latin typeface="Arial"/>
                    </a:defRPr>
                  </a:pPr>
                </a:p>
              </c:txPr>
              <c:showLegendKey val="0"/>
              <c:showVal val="1"/>
              <c:showCatName val="0"/>
              <c:showSerName val="0"/>
              <c:showPercent val="0"/>
              <c:showBubbleSize val="0"/>
            </c:dLbl>
            <c:dLbl>
              <c:idx val="3"/>
              <c:numFmt formatCode="0.0&quot;%&quot;" sourceLinked="0"/>
              <c:spPr/>
              <c:txPr>
                <a:bodyPr/>
                <a:lstStyle/>
                <a:p>
                  <a:pPr>
                    <a:defRPr sz="1100" b="0" i="0" u="none" strike="noStrike">
                      <a:solidFill>
                        <a:srgbClr val="FFFFFF"/>
                      </a:solidFill>
                      <a:latin typeface="Arial"/>
                    </a:defRPr>
                  </a:pPr>
                </a:p>
              </c:txPr>
              <c:showLegendKey val="0"/>
              <c:showVal val="1"/>
              <c:showCatName val="0"/>
              <c:showSerName val="0"/>
              <c:showPercent val="0"/>
              <c:showBubbleSize val="0"/>
            </c:dLbl>
            <c:numFmt formatCode="0.0&quot;%&quot;"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Sheet1!$A$2:$A$5</c:f>
              <c:strCache>
                <c:ptCount val="4"/>
                <c:pt idx="0">
                  <c:v>Sugar Trap (high sugar, low protein)</c:v>
                </c:pt>
                <c:pt idx="1">
                  <c:v>Low sugar, low protein</c:v>
                </c:pt>
                <c:pt idx="2">
                  <c:v>Blue Ocean (low sugar, high protein)</c:v>
                </c:pt>
                <c:pt idx="3">
                  <c:v>High sugar + high protein</c:v>
                </c:pt>
              </c:strCache>
            </c:strRef>
          </c:cat>
          <c:val>
            <c:numRef>
              <c:f>Sheet1!$B$2:$B$5</c:f>
              <c:numCache>
                <c:ptCount val="4"/>
                <c:pt idx="0">
                  <c:v>70.7</c:v>
                </c:pt>
                <c:pt idx="1">
                  <c:v>16.7</c:v>
                </c:pt>
                <c:pt idx="2">
                  <c:v>6.8</c:v>
                </c:pt>
                <c:pt idx="3">
                  <c:v>5.9</c:v>
                </c:pt>
              </c:numCache>
            </c:numRef>
          </c:val>
        </c:ser>
        <c:firstSliceAng val="0"/>
        <c:holeSize val="55"/>
      </c:doughnutChart>
      <c:spPr>
        <a:noFill/>
        <a:ln>
          <a:noFill/>
        </a:ln>
        <a:effectLst/>
      </c:spPr>
    </c:plotArea>
    <c:legend>
      <c:legendPos val="b"/>
      <c:overlay val="0"/>
      <c:txPr>
        <a:bodyPr/>
        <a:lstStyle/>
        <a:p>
          <a:pPr>
            <a:defRPr sz="1000">
              <a:solidFill>
                <a:srgbClr val="1A1A1A"/>
              </a:solidFil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Products</c:v>
                </c:pt>
              </c:strCache>
            </c:strRef>
          </c:tx>
          <c:spPr>
            <a:solidFill>
              <a:srgbClr val="C62828"/>
            </a:solidFill>
            <a:effectLst/>
          </c:spPr>
          <c:invertIfNegative val="0"/>
          <c:dLbls>
            <c:numFmt formatCode="#,##0" sourceLinked="0"/>
            <c:txPr>
              <a:bodyPr/>
              <a:lstStyle/>
              <a:p>
                <a:pPr>
                  <a:defRPr b="0" i="0" strike="noStrike" sz="900" u="none">
                    <a:solidFill>
                      <a:srgbClr val="1A1A1A"/>
                    </a:solidFill>
                    <a:latin typeface="Arial"/>
                  </a:defRPr>
                </a:pPr>
              </a:p>
            </c:txPr>
            <c:showLegendKey val="0"/>
            <c:showVal val="1"/>
            <c:showCatName val="0"/>
            <c:showSerName val="0"/>
            <c:showPercent val="0"/>
            <c:showBubbleSize val="0"/>
            <c:showLeaderLines val="0"/>
          </c:dLbls>
          <c:dPt>
            <c:idx val="0"/>
            <c:invertIfNegative val="0"/>
            <c:bubble3D val="0"/>
            <c:spPr>
              <a:solidFill>
                <a:srgbClr val="C62828"/>
              </a:solidFill>
              <a:effectLst/>
            </c:spPr>
          </c:dPt>
          <c:dPt>
            <c:idx val="1"/>
            <c:invertIfNegative val="0"/>
            <c:bubble3D val="0"/>
            <c:spPr>
              <a:solidFill>
                <a:srgbClr val="C62828"/>
              </a:solidFill>
              <a:effectLst/>
            </c:spPr>
          </c:dPt>
          <c:dPt>
            <c:idx val="2"/>
            <c:invertIfNegative val="0"/>
            <c:bubble3D val="0"/>
            <c:spPr>
              <a:solidFill>
                <a:srgbClr val="C62828"/>
              </a:solidFill>
              <a:effectLst/>
            </c:spPr>
          </c:dPt>
          <c:dPt>
            <c:idx val="3"/>
            <c:invertIfNegative val="0"/>
            <c:bubble3D val="0"/>
            <c:spPr>
              <a:solidFill>
                <a:srgbClr val="C62828"/>
              </a:solidFill>
              <a:effectLst/>
            </c:spPr>
          </c:dPt>
          <c:dPt>
            <c:idx val="4"/>
            <c:invertIfNegative val="0"/>
            <c:bubble3D val="0"/>
            <c:spPr>
              <a:solidFill>
                <a:srgbClr val="2E7D32"/>
              </a:solidFill>
              <a:effectLst/>
            </c:spPr>
          </c:dPt>
          <c:dPt>
            <c:idx val="5"/>
            <c:invertIfNegative val="0"/>
            <c:bubble3D val="0"/>
            <c:spPr>
              <a:solidFill>
                <a:srgbClr val="FFB74D"/>
              </a:solidFill>
              <a:effectLst/>
            </c:spPr>
          </c:dPt>
          <c:dPt>
            <c:idx val="6"/>
            <c:invertIfNegative val="0"/>
            <c:bubble3D val="0"/>
            <c:spPr>
              <a:solidFill>
                <a:srgbClr val="2E7D32"/>
              </a:solidFill>
              <a:effectLst/>
            </c:spPr>
          </c:dPt>
          <c:dPt>
            <c:idx val="7"/>
            <c:invertIfNegative val="0"/>
            <c:bubble3D val="0"/>
            <c:spPr>
              <a:solidFill>
                <a:srgbClr val="2E7D32"/>
              </a:solidFill>
              <a:effectLst/>
            </c:spPr>
          </c:dPt>
          <c:cat>
            <c:multiLvlStrRef>
              <c:f>Sheet1!$A$2:$A$9</c:f>
              <c:multiLvlStrCache>
                <c:ptCount val="8"/>
                <c:lvl>
                  <c:pt idx="0">
                    <c:v>Cakes &amp; Pastries</c:v>
                  </c:pt>
                  <c:pt idx="1">
                    <c:v>Chocolate</c:v>
                  </c:pt>
                  <c:pt idx="2">
                    <c:v>Biscuits &amp; Cookies</c:v>
                  </c:pt>
                  <c:pt idx="3">
                    <c:v>Confectionery</c:v>
                  </c:pt>
                  <c:pt idx="4">
                    <c:v>Chips &amp; Savoury</c:v>
                  </c:pt>
                  <c:pt idx="5">
                    <c:v>Bars &amp; Protein</c:v>
                  </c:pt>
                  <c:pt idx="6">
                    <c:v>Nuts &amp; Seeds</c:v>
                  </c:pt>
                  <c:pt idx="7">
                    <c:v>Dried Fruit</c:v>
                  </c:pt>
                </c:lvl>
              </c:multiLvlStrCache>
            </c:multiLvlStrRef>
          </c:cat>
          <c:val>
            <c:numRef>
              <c:f>Sheet1!$B$2:$B$9</c:f>
              <c:numCache>
                <c:formatCode>General</c:formatCode>
                <c:ptCount val="8"/>
                <c:pt idx="0">
                  <c:v>32909</c:v>
                </c:pt>
                <c:pt idx="1">
                  <c:v>30540</c:v>
                </c:pt>
                <c:pt idx="2">
                  <c:v>29344</c:v>
                </c:pt>
                <c:pt idx="3">
                  <c:v>26982</c:v>
                </c:pt>
                <c:pt idx="4">
                  <c:v>25541</c:v>
                </c:pt>
                <c:pt idx="5">
                  <c:v>8621</c:v>
                </c:pt>
                <c:pt idx="6">
                  <c:v>2954</c:v>
                </c:pt>
                <c:pt idx="7">
                  <c:v>361</c:v>
                </c:pt>
              </c:numCache>
            </c:numRef>
          </c:val>
        </c:ser>
        <c:dLbls>
          <c:numFmt formatCode="#,##0" sourceLinked="0"/>
          <c:txPr>
            <a:bodyPr/>
            <a:lstStyle/>
            <a:p>
              <a:pPr>
                <a:defRPr b="0" i="0" strike="noStrike" sz="900" u="none">
                  <a:solidFill>
                    <a:srgbClr val="1A1A1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1A1A1A"/>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E6E6E"/>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Chips &amp; Savoury</c:v>
                </c:pt>
              </c:strCache>
            </c:strRef>
          </c:tx>
          <c:spPr>
            <a:solidFill>
              <a:srgbClr val="A5D6A7"/>
            </a:solidFill>
            <a:effectLst/>
          </c:spPr>
          <c:invertIfNegative val="0"/>
          <c:dLbls>
            <c:numFmt formatCode="0.0&quot;%&quot;" sourceLinked="0"/>
            <c:txPr>
              <a:bodyPr/>
              <a:lstStyle/>
              <a:p>
                <a:pPr>
                  <a:defRPr b="0" i="0" strike="noStrike" sz="1200" u="none">
                    <a:solidFill>
                      <a:srgbClr val="1A1A1A"/>
                    </a:solidFill>
                    <a:latin typeface="Arial"/>
                  </a:defRPr>
                </a:pPr>
              </a:p>
            </c:txPr>
            <c:showLegendKey val="0"/>
            <c:showVal val="1"/>
            <c:showCatName val="0"/>
            <c:showSerName val="0"/>
            <c:showPercent val="0"/>
            <c:showBubbleSize val="0"/>
            <c:showLeaderLines val="0"/>
          </c:dLbls>
          <c:dPt>
            <c:idx val="0"/>
            <c:invertIfNegative val="0"/>
            <c:bubble3D val="0"/>
            <c:spPr>
              <a:solidFill>
                <a:srgbClr val="A5D6A7"/>
              </a:solidFill>
              <a:effectLst/>
            </c:spPr>
          </c:dPt>
          <c:dPt>
            <c:idx val="1"/>
            <c:invertIfNegative val="0"/>
            <c:bubble3D val="0"/>
            <c:spPr>
              <a:solidFill>
                <a:srgbClr val="2E7D32"/>
              </a:solidFill>
              <a:effectLst/>
            </c:spPr>
          </c:dPt>
          <c:dPt>
            <c:idx val="2"/>
            <c:invertIfNegative val="0"/>
            <c:bubble3D val="0"/>
            <c:spPr>
              <a:solidFill>
                <a:srgbClr val="C62828"/>
              </a:solidFill>
              <a:effectLst/>
            </c:spPr>
          </c:dPt>
          <c:dPt>
            <c:idx val="3"/>
            <c:invertIfNegative val="0"/>
            <c:bubble3D val="0"/>
            <c:spPr>
              <a:solidFill>
                <a:srgbClr val="FFB74D"/>
              </a:solidFill>
              <a:effectLst/>
            </c:spPr>
          </c:dPt>
          <c:cat>
            <c:multiLvlStrRef>
              <c:f>Sheet1!$A$2:$A$5</c:f>
              <c:multiLvlStrCache>
                <c:ptCount val="4"/>
                <c:lvl>
                  <c:pt idx="0">
                    <c:v>Low sugar, low protein</c:v>
                  </c:pt>
                  <c:pt idx="1">
                    <c:v>Blue Ocean</c:v>
                  </c:pt>
                  <c:pt idx="2">
                    <c:v>Sugar Trap</c:v>
                  </c:pt>
                  <c:pt idx="3">
                    <c:v>High sugar + high protein</c:v>
                  </c:pt>
                </c:lvl>
              </c:multiLvlStrCache>
            </c:multiLvlStrRef>
          </c:cat>
          <c:val>
            <c:numRef>
              <c:f>Sheet1!$B$2:$B$5</c:f>
              <c:numCache>
                <c:formatCode>General</c:formatCode>
                <c:ptCount val="4"/>
                <c:pt idx="0">
                  <c:v>68</c:v>
                </c:pt>
                <c:pt idx="1">
                  <c:v>24</c:v>
                </c:pt>
                <c:pt idx="2">
                  <c:v>6.7</c:v>
                </c:pt>
                <c:pt idx="3">
                  <c:v>1.3</c:v>
                </c:pt>
              </c:numCache>
            </c:numRef>
          </c:val>
        </c:ser>
        <c:dLbls>
          <c:numFmt formatCode="0.0&quot;%&quot;" sourceLinked="0"/>
          <c:txPr>
            <a:bodyPr/>
            <a:lstStyle/>
            <a:p>
              <a:pPr>
                <a:defRPr b="0" i="0" strike="noStrike" sz="1200" u="none">
                  <a:solidFill>
                    <a:srgbClr val="1A1A1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A1A1A"/>
                </a:solidFill>
                <a:latin typeface="Arial"/>
              </a:defRPr>
            </a:pPr>
            <a:endParaRPr lang="en-US"/>
          </a:p>
        </c:txPr>
        <c:crossAx val="2094734552"/>
        <c:crosses val="autoZero"/>
        <c:auto val="1"/>
        <c:lblAlgn val="ctr"/>
        <c:noMultiLvlLbl val="1"/>
      </c:catAx>
      <c:valAx>
        <c:axId val="2094734552"/>
        <c:scaling>
          <c:orientation val="minMax"/>
          <c:max val="80"/>
        </c:scaling>
        <c:delete val="0"/>
        <c:axPos val="b"/>
        <c:majorGridlines>
          <c:spPr>
            <a:ln w="12700" cap="flat">
              <a:solidFill>
                <a:srgbClr val="EEEEEE"/>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E6E6E"/>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percentStacked"/>
        <c:varyColors val="0"/>
        <c:ser>
          <c:idx val="0"/>
          <c:order val="0"/>
          <c:tx>
            <c:strRef>
              <c:f>Sheet1!$B$1</c:f>
              <c:strCache>
                <c:ptCount val="1"/>
                <c:pt idx="0">
                  <c:v>A</c:v>
                </c:pt>
              </c:strCache>
            </c:strRef>
          </c:tx>
          <c:spPr>
            <a:solidFill>
              <a:srgbClr val="1E8F4E"/>
            </a:solidFill>
            <a:effectLst/>
          </c:spPr>
          <c:invertIfNegative val="0"/>
          <c:dLbls>
            <c:numFmt formatCode="0&quot;%&quot;" sourceLinked="0"/>
            <c:txPr>
              <a:bodyPr/>
              <a:lstStyle/>
              <a:p>
                <a:pPr>
                  <a:defRPr b="0" i="0" strike="noStrike" sz="900" u="none">
                    <a:solidFill>
                      <a:srgbClr val="FFFFFF"/>
                    </a:solidFill>
                    <a:latin typeface="Arial"/>
                  </a:defRPr>
                </a:pPr>
              </a:p>
            </c:txPr>
            <c:dLblPos val="ctr"/>
            <c:showLegendKey val="0"/>
            <c:showVal val="1"/>
            <c:showCatName val="0"/>
            <c:showSerName val="0"/>
            <c:showPercent val="0"/>
            <c:showBubbleSize val="0"/>
            <c:showLeaderLines val="0"/>
          </c:dLbls>
          <c:cat>
            <c:multiLvlStrRef>
              <c:f>Sheet1!$A$2:$A$3</c:f>
              <c:multiLvlStrCache>
                <c:ptCount val="2"/>
                <c:lvl>
                  <c:pt idx="0">
                    <c:v>Blue Ocean</c:v>
                  </c:pt>
                  <c:pt idx="1">
                    <c:v>Sugar Trap</c:v>
                  </c:pt>
                </c:lvl>
              </c:multiLvlStrCache>
            </c:multiLvlStrRef>
          </c:cat>
          <c:val>
            <c:numRef>
              <c:f>Sheet1!$B$2:$B$3</c:f>
              <c:numCache>
                <c:formatCode>General</c:formatCode>
                <c:ptCount val="2"/>
                <c:pt idx="0">
                  <c:v>8.4</c:v>
                </c:pt>
                <c:pt idx="1">
                  <c:v>0.1</c:v>
                </c:pt>
              </c:numCache>
            </c:numRef>
          </c:val>
        </c:ser>
        <c:ser>
          <c:idx val="1"/>
          <c:order val="1"/>
          <c:tx>
            <c:strRef>
              <c:f>Sheet1!$C$1</c:f>
              <c:strCache>
                <c:ptCount val="1"/>
                <c:pt idx="0">
                  <c:v>B</c:v>
                </c:pt>
              </c:strCache>
            </c:strRef>
          </c:tx>
          <c:spPr>
            <a:solidFill>
              <a:srgbClr val="8BC34A"/>
            </a:solidFill>
            <a:effectLst/>
          </c:spPr>
          <c:invertIfNegative val="0"/>
          <c:dLbls>
            <c:numFmt formatCode="0&quot;%&quot;" sourceLinked="0"/>
            <c:txPr>
              <a:bodyPr/>
              <a:lstStyle/>
              <a:p>
                <a:pPr>
                  <a:defRPr b="0" i="0" strike="noStrike" sz="900" u="none">
                    <a:solidFill>
                      <a:srgbClr val="FFFFFF"/>
                    </a:solidFill>
                    <a:latin typeface="Arial"/>
                  </a:defRPr>
                </a:pPr>
              </a:p>
            </c:txPr>
            <c:dLblPos val="ctr"/>
            <c:showLegendKey val="0"/>
            <c:showVal val="1"/>
            <c:showCatName val="0"/>
            <c:showSerName val="0"/>
            <c:showPercent val="0"/>
            <c:showBubbleSize val="0"/>
            <c:showLeaderLines val="0"/>
          </c:dLbls>
          <c:cat>
            <c:multiLvlStrRef>
              <c:f>Sheet1!$A$2:$A$3</c:f>
              <c:multiLvlStrCache>
                <c:ptCount val="2"/>
                <c:lvl>
                  <c:pt idx="0">
                    <c:v>Blue Ocean</c:v>
                  </c:pt>
                  <c:pt idx="1">
                    <c:v>Sugar Trap</c:v>
                  </c:pt>
                </c:lvl>
              </c:multiLvlStrCache>
            </c:multiLvlStrRef>
          </c:cat>
          <c:val>
            <c:numRef>
              <c:f>Sheet1!$C$2:$C$3</c:f>
              <c:numCache>
                <c:formatCode>General</c:formatCode>
                <c:ptCount val="2"/>
                <c:pt idx="0">
                  <c:v>5</c:v>
                </c:pt>
                <c:pt idx="1">
                  <c:v>0.1</c:v>
                </c:pt>
              </c:numCache>
            </c:numRef>
          </c:val>
        </c:ser>
        <c:ser>
          <c:idx val="2"/>
          <c:order val="2"/>
          <c:tx>
            <c:strRef>
              <c:f>Sheet1!$D$1</c:f>
              <c:strCache>
                <c:ptCount val="1"/>
                <c:pt idx="0">
                  <c:v>C</c:v>
                </c:pt>
              </c:strCache>
            </c:strRef>
          </c:tx>
          <c:spPr>
            <a:solidFill>
              <a:srgbClr val="FFC107"/>
            </a:solidFill>
            <a:effectLst/>
          </c:spPr>
          <c:invertIfNegative val="0"/>
          <c:dLbls>
            <c:numFmt formatCode="0&quot;%&quot;" sourceLinked="0"/>
            <c:txPr>
              <a:bodyPr/>
              <a:lstStyle/>
              <a:p>
                <a:pPr>
                  <a:defRPr b="0" i="0" strike="noStrike" sz="900" u="none">
                    <a:solidFill>
                      <a:srgbClr val="FFFFFF"/>
                    </a:solidFill>
                    <a:latin typeface="Arial"/>
                  </a:defRPr>
                </a:pPr>
              </a:p>
            </c:txPr>
            <c:dLblPos val="ctr"/>
            <c:showLegendKey val="0"/>
            <c:showVal val="1"/>
            <c:showCatName val="0"/>
            <c:showSerName val="0"/>
            <c:showPercent val="0"/>
            <c:showBubbleSize val="0"/>
            <c:showLeaderLines val="0"/>
          </c:dLbls>
          <c:cat>
            <c:multiLvlStrRef>
              <c:f>Sheet1!$A$2:$A$3</c:f>
              <c:multiLvlStrCache>
                <c:ptCount val="2"/>
                <c:lvl>
                  <c:pt idx="0">
                    <c:v>Blue Ocean</c:v>
                  </c:pt>
                  <c:pt idx="1">
                    <c:v>Sugar Trap</c:v>
                  </c:pt>
                </c:lvl>
              </c:multiLvlStrCache>
            </c:multiLvlStrRef>
          </c:cat>
          <c:val>
            <c:numRef>
              <c:f>Sheet1!$D$2:$D$3</c:f>
              <c:numCache>
                <c:formatCode>General</c:formatCode>
                <c:ptCount val="2"/>
                <c:pt idx="0">
                  <c:v>20.7</c:v>
                </c:pt>
                <c:pt idx="1">
                  <c:v>2.6</c:v>
                </c:pt>
              </c:numCache>
            </c:numRef>
          </c:val>
        </c:ser>
        <c:ser>
          <c:idx val="3"/>
          <c:order val="3"/>
          <c:tx>
            <c:strRef>
              <c:f>Sheet1!$E$1</c:f>
              <c:strCache>
                <c:ptCount val="1"/>
                <c:pt idx="0">
                  <c:v>D</c:v>
                </c:pt>
              </c:strCache>
            </c:strRef>
          </c:tx>
          <c:spPr>
            <a:solidFill>
              <a:srgbClr val="FF7043"/>
            </a:solidFill>
            <a:effectLst/>
          </c:spPr>
          <c:invertIfNegative val="0"/>
          <c:dLbls>
            <c:numFmt formatCode="0&quot;%&quot;" sourceLinked="0"/>
            <c:txPr>
              <a:bodyPr/>
              <a:lstStyle/>
              <a:p>
                <a:pPr>
                  <a:defRPr b="0" i="0" strike="noStrike" sz="900" u="none">
                    <a:solidFill>
                      <a:srgbClr val="FFFFFF"/>
                    </a:solidFill>
                    <a:latin typeface="Arial"/>
                  </a:defRPr>
                </a:pPr>
              </a:p>
            </c:txPr>
            <c:dLblPos val="ctr"/>
            <c:showLegendKey val="0"/>
            <c:showVal val="1"/>
            <c:showCatName val="0"/>
            <c:showSerName val="0"/>
            <c:showPercent val="0"/>
            <c:showBubbleSize val="0"/>
            <c:showLeaderLines val="0"/>
          </c:dLbls>
          <c:cat>
            <c:multiLvlStrRef>
              <c:f>Sheet1!$A$2:$A$3</c:f>
              <c:multiLvlStrCache>
                <c:ptCount val="2"/>
                <c:lvl>
                  <c:pt idx="0">
                    <c:v>Blue Ocean</c:v>
                  </c:pt>
                  <c:pt idx="1">
                    <c:v>Sugar Trap</c:v>
                  </c:pt>
                </c:lvl>
              </c:multiLvlStrCache>
            </c:multiLvlStrRef>
          </c:cat>
          <c:val>
            <c:numRef>
              <c:f>Sheet1!$E$2:$E$3</c:f>
              <c:numCache>
                <c:formatCode>General</c:formatCode>
                <c:ptCount val="2"/>
                <c:pt idx="0">
                  <c:v>42.5</c:v>
                </c:pt>
                <c:pt idx="1">
                  <c:v>19.9</c:v>
                </c:pt>
              </c:numCache>
            </c:numRef>
          </c:val>
        </c:ser>
        <c:ser>
          <c:idx val="4"/>
          <c:order val="4"/>
          <c:tx>
            <c:strRef>
              <c:f>Sheet1!$F$1</c:f>
              <c:strCache>
                <c:ptCount val="1"/>
                <c:pt idx="0">
                  <c:v>E</c:v>
                </c:pt>
              </c:strCache>
            </c:strRef>
          </c:tx>
          <c:spPr>
            <a:solidFill>
              <a:srgbClr val="D32F2F"/>
            </a:solidFill>
            <a:effectLst/>
          </c:spPr>
          <c:invertIfNegative val="0"/>
          <c:dLbls>
            <c:numFmt formatCode="0&quot;%&quot;" sourceLinked="0"/>
            <c:txPr>
              <a:bodyPr/>
              <a:lstStyle/>
              <a:p>
                <a:pPr>
                  <a:defRPr b="0" i="0" strike="noStrike" sz="900" u="none">
                    <a:solidFill>
                      <a:srgbClr val="FFFFFF"/>
                    </a:solidFill>
                    <a:latin typeface="Arial"/>
                  </a:defRPr>
                </a:pPr>
              </a:p>
            </c:txPr>
            <c:dLblPos val="ctr"/>
            <c:showLegendKey val="0"/>
            <c:showVal val="1"/>
            <c:showCatName val="0"/>
            <c:showSerName val="0"/>
            <c:showPercent val="0"/>
            <c:showBubbleSize val="0"/>
            <c:showLeaderLines val="0"/>
          </c:dLbls>
          <c:cat>
            <c:multiLvlStrRef>
              <c:f>Sheet1!$A$2:$A$3</c:f>
              <c:multiLvlStrCache>
                <c:ptCount val="2"/>
                <c:lvl>
                  <c:pt idx="0">
                    <c:v>Blue Ocean</c:v>
                  </c:pt>
                  <c:pt idx="1">
                    <c:v>Sugar Trap</c:v>
                  </c:pt>
                </c:lvl>
              </c:multiLvlStrCache>
            </c:multiLvlStrRef>
          </c:cat>
          <c:val>
            <c:numRef>
              <c:f>Sheet1!$F$2:$F$3</c:f>
              <c:numCache>
                <c:formatCode>General</c:formatCode>
                <c:ptCount val="2"/>
                <c:pt idx="0">
                  <c:v>23.3</c:v>
                </c:pt>
                <c:pt idx="1">
                  <c:v>77.3</c:v>
                </c:pt>
              </c:numCache>
            </c:numRef>
          </c:val>
        </c:ser>
        <c:dLbls>
          <c:numFmt formatCode="0&quot;%&quot;" sourceLinked="0"/>
          <c:txPr>
            <a:bodyPr/>
            <a:lstStyle/>
            <a:p>
              <a:pPr>
                <a:defRPr b="0" i="0" strike="noStrike" sz="900" u="none">
                  <a:solidFill>
                    <a:srgbClr val="FFFFFF"/>
                  </a:solidFill>
                  <a:latin typeface="Arial"/>
                </a:defRPr>
              </a:pPr>
            </a:p>
          </c:txPr>
          <c:dLblPos val="ctr"/>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FFFFFF"/>
                </a:solidFill>
                <a:latin typeface="Arial"/>
              </a:defRPr>
            </a:pPr>
            <a:endParaRPr lang="en-US"/>
          </a:p>
        </c:txPr>
        <c:crossAx val="2094734552"/>
        <c:crosses val="autoZero"/>
        <c:auto val="1"/>
        <c:lblAlgn val="ctr"/>
        <c:noMultiLvlLbl val="1"/>
      </c:catAx>
      <c:valAx>
        <c:axId val="2094734552"/>
        <c:scaling>
          <c:orientation val="minMax"/>
        </c:scaling>
        <c:delete val="0"/>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E6E6E"/>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FFFFFF"/>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client believes the snack aisle is oversaturated with sugar but lacks the data to prove where the gaps are. This is that proof.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Food Facts is European-origin and contributor-driven. US entries arrive largely via bulk barcode imports with no nutrition panel parsed. 97% of all rows removed in cleaning come from this decision plus the missing nutrition it explains.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70.7% sugar trap versus 6.8% blue ocean. The blue ocean is not empty — it holds about 11,300 products — but the saturation ratio is roughly 10:1.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6,126 blue-ocean products against 1,650 for nuts. 17,370 sit one variable away from the target. No global snack manufacturer appears in the top 15 brands — the space is proven but has no branded incumbent.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this check the client could have hit both stated targets and shipped a product graded D, competing on a health platform against confectionery that grades no worse. That failure would surface at the packaging stage, after the money was spent. Three hypotheses tested across the project, three came back weaker than expected, all reported as found.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1A"/>
        </a:solidFill>
      </p:bgPr>
    </p:bg>
    <p:spTree>
      <p:nvGrpSpPr>
        <p:cNvPr id="1" name=""/>
        <p:cNvGrpSpPr/>
        <p:nvPr/>
      </p:nvGrpSpPr>
      <p:grpSpPr>
        <a:xfrm>
          <a:off x="0" y="0"/>
          <a:ext cx="0" cy="0"/>
          <a:chOff x="0" y="0"/>
          <a:chExt cx="0" cy="0"/>
        </a:xfrm>
      </p:grpSpPr>
      <p:sp>
        <p:nvSpPr>
          <p:cNvPr id="2" name="Text 0"/>
          <p:cNvSpPr/>
          <p:nvPr/>
        </p:nvSpPr>
        <p:spPr>
          <a:xfrm>
            <a:off x="822960" y="1737360"/>
            <a:ext cx="10515600" cy="914400"/>
          </a:xfrm>
          <a:prstGeom prst="rect">
            <a:avLst/>
          </a:prstGeom>
          <a:noFill/>
          <a:ln/>
        </p:spPr>
        <p:txBody>
          <a:bodyPr wrap="square"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The Sugar Trap</a:t>
            </a:r>
            <a:endParaRPr lang="en-US" sz="5400" dirty="0"/>
          </a:p>
        </p:txBody>
      </p:sp>
      <p:sp>
        <p:nvSpPr>
          <p:cNvPr id="3" name="Text 1"/>
          <p:cNvSpPr/>
          <p:nvPr/>
        </p:nvSpPr>
        <p:spPr>
          <a:xfrm>
            <a:off x="822960" y="2651760"/>
            <a:ext cx="10515600" cy="548640"/>
          </a:xfrm>
          <a:prstGeom prst="rect">
            <a:avLst/>
          </a:prstGeom>
          <a:noFill/>
          <a:ln/>
        </p:spPr>
        <p:txBody>
          <a:bodyPr wrap="square" rtlCol="0" anchor="ctr"/>
          <a:lstStyle/>
          <a:p>
            <a:pPr indent="0" marL="0">
              <a:buNone/>
            </a:pPr>
            <a:r>
              <a:rPr lang="en-US" sz="2800" i="1" dirty="0">
                <a:solidFill>
                  <a:srgbClr val="A5D6A7"/>
                </a:solidFill>
                <a:latin typeface="Cambria" pitchFamily="34" charset="0"/>
                <a:ea typeface="Cambria" pitchFamily="34" charset="-122"/>
                <a:cs typeface="Cambria" pitchFamily="34" charset="-120"/>
              </a:rPr>
              <a:t>Where is the blue ocean in the snack aisle?</a:t>
            </a:r>
            <a:endParaRPr lang="en-US" sz="2800" dirty="0"/>
          </a:p>
        </p:txBody>
      </p:sp>
      <p:sp>
        <p:nvSpPr>
          <p:cNvPr id="4" name="Text 2"/>
          <p:cNvSpPr/>
          <p:nvPr/>
        </p:nvSpPr>
        <p:spPr>
          <a:xfrm>
            <a:off x="822960" y="3566160"/>
            <a:ext cx="10515600" cy="365760"/>
          </a:xfrm>
          <a:prstGeom prst="rect">
            <a:avLst/>
          </a:prstGeom>
          <a:noFill/>
          <a:ln/>
        </p:spPr>
        <p:txBody>
          <a:bodyPr wrap="square" rtlCol="0" anchor="ctr"/>
          <a:lstStyle/>
          <a:p>
            <a:pPr indent="0" marL="0">
              <a:buNone/>
            </a:pPr>
            <a:r>
              <a:rPr lang="en-US" sz="1600" dirty="0">
                <a:solidFill>
                  <a:srgbClr val="6E6E6E"/>
                </a:solidFill>
                <a:latin typeface="Calibri" pitchFamily="34" charset="0"/>
                <a:ea typeface="Calibri" pitchFamily="34" charset="-122"/>
                <a:cs typeface="Calibri" pitchFamily="34" charset="-120"/>
              </a:rPr>
              <a:t>166,811 European snack products  ·  Open Food Facts</a:t>
            </a:r>
            <a:endParaRPr lang="en-US" sz="1600" dirty="0"/>
          </a:p>
        </p:txBody>
      </p:sp>
      <p:sp>
        <p:nvSpPr>
          <p:cNvPr id="5" name="Text 3"/>
          <p:cNvSpPr/>
          <p:nvPr/>
        </p:nvSpPr>
        <p:spPr>
          <a:xfrm>
            <a:off x="822960" y="5760720"/>
            <a:ext cx="10515600" cy="365760"/>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Helix CPG Partners   |   Jayden</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64240" cy="640080"/>
          </a:xfrm>
          <a:prstGeom prst="rect">
            <a:avLst/>
          </a:prstGeom>
          <a:noFill/>
          <a:ln/>
        </p:spPr>
        <p:txBody>
          <a:bodyPr wrap="square" rtlCol="0" anchor="ctr"/>
          <a:lstStyle/>
          <a:p>
            <a:pPr indent="0" marL="0">
              <a:buNone/>
            </a:pPr>
            <a:r>
              <a:rPr lang="en-US" sz="3400" b="1" dirty="0">
                <a:solidFill>
                  <a:srgbClr val="1A1A1A"/>
                </a:solidFill>
                <a:latin typeface="Cambria" pitchFamily="34" charset="0"/>
                <a:ea typeface="Cambria" pitchFamily="34" charset="-122"/>
                <a:cs typeface="Cambria" pitchFamily="34" charset="-120"/>
              </a:rPr>
              <a:t>The first finding was about the data, not the market</a:t>
            </a:r>
            <a:endParaRPr lang="en-US" sz="3400" dirty="0"/>
          </a:p>
        </p:txBody>
      </p:sp>
      <p:sp>
        <p:nvSpPr>
          <p:cNvPr id="3" name="Text 1"/>
          <p:cNvSpPr/>
          <p:nvPr/>
        </p:nvSpPr>
        <p:spPr>
          <a:xfrm>
            <a:off x="548640" y="1097280"/>
            <a:ext cx="11064240" cy="365760"/>
          </a:xfrm>
          <a:prstGeom prst="rect">
            <a:avLst/>
          </a:prstGeom>
          <a:noFill/>
          <a:ln/>
        </p:spPr>
        <p:txBody>
          <a:bodyPr wrap="square" rtlCol="0" anchor="ctr"/>
          <a:lstStyle/>
          <a:p>
            <a:pPr indent="0" marL="0">
              <a:buNone/>
            </a:pPr>
            <a:r>
              <a:rPr lang="en-US" sz="1500" dirty="0">
                <a:solidFill>
                  <a:srgbClr val="6E6E6E"/>
                </a:solidFill>
                <a:latin typeface="Calibri" pitchFamily="34" charset="0"/>
                <a:ea typeface="Calibri" pitchFamily="34" charset="-122"/>
                <a:cs typeface="Calibri" pitchFamily="34" charset="-120"/>
              </a:rPr>
              <a:t>41% of snack products had no sugar or protein value. That missingness was not random.</a:t>
            </a:r>
            <a:endParaRPr lang="en-US" sz="1500" dirty="0"/>
          </a:p>
        </p:txBody>
      </p:sp>
      <p:graphicFrame>
        <p:nvGraphicFramePr>
          <p:cNvPr id="4" name="Chart 0" descr=""/>
          <p:cNvGraphicFramePr/>
          <p:nvPr/>
        </p:nvGraphicFramePr>
        <p:xfrm>
          <a:off x="548640" y="1737360"/>
          <a:ext cx="6400800" cy="42062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315200" y="2011680"/>
            <a:ext cx="4297680" cy="3108960"/>
          </a:xfrm>
          <a:prstGeom prst="roundRect">
            <a:avLst>
              <a:gd name="adj" fmla="val 2941"/>
            </a:avLst>
          </a:prstGeom>
          <a:solidFill>
            <a:srgbClr val="FBEAEA"/>
          </a:solidFill>
          <a:ln w="12700">
            <a:solidFill>
              <a:srgbClr val="FBEAEA"/>
            </a:solidFill>
            <a:prstDash val="solid"/>
          </a:ln>
        </p:spPr>
      </p:sp>
      <p:sp>
        <p:nvSpPr>
          <p:cNvPr id="6" name="Text 3"/>
          <p:cNvSpPr/>
          <p:nvPr/>
        </p:nvSpPr>
        <p:spPr>
          <a:xfrm>
            <a:off x="7589520" y="2194560"/>
            <a:ext cx="3749040" cy="822960"/>
          </a:xfrm>
          <a:prstGeom prst="rect">
            <a:avLst/>
          </a:prstGeom>
          <a:noFill/>
          <a:ln/>
        </p:spPr>
        <p:txBody>
          <a:bodyPr wrap="square" lIns="0" tIns="0" rIns="0" bIns="0" rtlCol="0" anchor="ctr"/>
          <a:lstStyle/>
          <a:p>
            <a:pPr indent="0" marL="0">
              <a:buNone/>
            </a:pPr>
            <a:r>
              <a:rPr lang="en-US" sz="5400" b="1" dirty="0">
                <a:solidFill>
                  <a:srgbClr val="C62828"/>
                </a:solidFill>
                <a:latin typeface="Cambria" pitchFamily="34" charset="0"/>
                <a:ea typeface="Cambria" pitchFamily="34" charset="-122"/>
                <a:cs typeface="Cambria" pitchFamily="34" charset="-120"/>
              </a:rPr>
              <a:t>5.3%</a:t>
            </a:r>
            <a:endParaRPr lang="en-US" sz="5400" dirty="0"/>
          </a:p>
        </p:txBody>
      </p:sp>
      <p:sp>
        <p:nvSpPr>
          <p:cNvPr id="7" name="Text 4"/>
          <p:cNvSpPr/>
          <p:nvPr/>
        </p:nvSpPr>
        <p:spPr>
          <a:xfrm>
            <a:off x="7589520" y="3017520"/>
            <a:ext cx="3749040" cy="1920240"/>
          </a:xfrm>
          <a:prstGeom prst="rect">
            <a:avLst/>
          </a:prstGeom>
          <a:noFill/>
          <a:ln/>
        </p:spPr>
        <p:txBody>
          <a:bodyPr wrap="square" lIns="0" tIns="0" rIns="0" bIns="0" rtlCol="0" anchor="ctr"/>
          <a:lstStyle/>
          <a:p>
            <a:pPr indent="0" marL="0">
              <a:buNone/>
            </a:pPr>
            <a:r>
              <a:rPr lang="en-US" sz="1250" dirty="0">
                <a:solidFill>
                  <a:srgbClr val="1A1A1A"/>
                </a:solidFill>
                <a:latin typeface="Calibri" pitchFamily="34" charset="0"/>
                <a:ea typeface="Calibri" pitchFamily="34" charset="-122"/>
                <a:cs typeface="Calibri" pitchFamily="34" charset="-120"/>
              </a:rPr>
              <a:t>US nutrition coverage, against 86–95% everywhere in Europe.
</a:t>
            </a:r>
            <a:endParaRPr lang="en-US" sz="1250" dirty="0"/>
          </a:p>
          <a:p>
            <a:pPr indent="0" marL="0">
              <a:buNone/>
            </a:pPr>
            <a:r>
              <a:rPr lang="en-US" sz="1250" dirty="0">
                <a:solidFill>
                  <a:srgbClr val="1A1A1A"/>
                </a:solidFill>
                <a:latin typeface="Calibri" pitchFamily="34" charset="0"/>
                <a:ea typeface="Calibri" pitchFamily="34" charset="-122"/>
                <a:cs typeface="Calibri" pitchFamily="34" charset="-120"/>
              </a:rPr>
              <a:t>A naive dropna() would have deleted the American market from a “global” analysis — and whatever survived would be the 5% who chose to fill in a panel.
</a:t>
            </a:r>
            <a:endParaRPr lang="en-US" sz="1250" dirty="0"/>
          </a:p>
          <a:p>
            <a:pPr indent="0" marL="0">
              <a:buNone/>
            </a:pPr>
            <a:r>
              <a:rPr lang="en-US" sz="1250" b="1" dirty="0">
                <a:solidFill>
                  <a:srgbClr val="1A1A1A"/>
                </a:solidFill>
                <a:latin typeface="Calibri" pitchFamily="34" charset="0"/>
                <a:ea typeface="Calibri" pitchFamily="34" charset="-122"/>
                <a:cs typeface="Calibri" pitchFamily="34" charset="-120"/>
              </a:rPr>
              <a:t>The US looks like the biggest gap in the data. It is a collection artefact, not an opportunity.</a:t>
            </a:r>
            <a:endParaRPr lang="en-US" sz="1250" dirty="0"/>
          </a:p>
        </p:txBody>
      </p:sp>
      <p:sp>
        <p:nvSpPr>
          <p:cNvPr id="8" name="Text 5"/>
          <p:cNvSpPr/>
          <p:nvPr/>
        </p:nvSpPr>
        <p:spPr>
          <a:xfrm>
            <a:off x="548640" y="6035040"/>
            <a:ext cx="11064240" cy="365760"/>
          </a:xfrm>
          <a:prstGeom prst="rect">
            <a:avLst/>
          </a:prstGeom>
          <a:noFill/>
          <a:ln/>
        </p:spPr>
        <p:txBody>
          <a:bodyPr wrap="square" rtlCol="0" anchor="ctr"/>
          <a:lstStyle/>
          <a:p>
            <a:pPr indent="0" marL="0">
              <a:buNone/>
            </a:pPr>
            <a:r>
              <a:rPr lang="en-US" sz="1300" i="1" dirty="0">
                <a:solidFill>
                  <a:srgbClr val="6E6E6E"/>
                </a:solidFill>
                <a:latin typeface="Calibri" pitchFamily="34" charset="0"/>
                <a:ea typeface="Calibri" pitchFamily="34" charset="-122"/>
                <a:cs typeface="Calibri" pitchFamily="34" charset="-120"/>
              </a:rPr>
              <a:t>Decision: scope to eight European markets. 331,907 → 166,811 products.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64240" cy="640080"/>
          </a:xfrm>
          <a:prstGeom prst="rect">
            <a:avLst/>
          </a:prstGeom>
          <a:noFill/>
          <a:ln/>
        </p:spPr>
        <p:txBody>
          <a:bodyPr wrap="square" rtlCol="0" anchor="ctr"/>
          <a:lstStyle/>
          <a:p>
            <a:pPr indent="0" marL="0">
              <a:buNone/>
            </a:pPr>
            <a:r>
              <a:rPr lang="en-US" sz="3400" b="1" dirty="0">
                <a:solidFill>
                  <a:srgbClr val="1A1A1A"/>
                </a:solidFill>
                <a:latin typeface="Cambria" pitchFamily="34" charset="0"/>
                <a:ea typeface="Cambria" pitchFamily="34" charset="-122"/>
                <a:cs typeface="Cambria" pitchFamily="34" charset="-120"/>
              </a:rPr>
              <a:t>The aisle is ten to one against healthy snacking</a:t>
            </a:r>
            <a:endParaRPr lang="en-US" sz="3400" dirty="0"/>
          </a:p>
        </p:txBody>
      </p:sp>
      <p:graphicFrame>
        <p:nvGraphicFramePr>
          <p:cNvPr id="3" name="Chart 0" descr=""/>
          <p:cNvGraphicFramePr/>
          <p:nvPr/>
        </p:nvGraphicFramePr>
        <p:xfrm>
          <a:off x="457200" y="1280160"/>
          <a:ext cx="5394960" cy="4297680"/>
        </p:xfrm>
        <a:graphic xmlns:a="http://schemas.openxmlformats.org/drawingml/2006/main">
          <a:graphicData uri="http://schemas.openxmlformats.org/drawingml/2006/chart">
            <c:chart xmlns:c="http://schemas.openxmlformats.org/drawingml/2006/chart" r:id="rId1"/>
          </a:graphicData>
        </a:graphic>
      </p:graphicFrame>
      <p:sp>
        <p:nvSpPr>
          <p:cNvPr id="4" name="Text 1"/>
          <p:cNvSpPr/>
          <p:nvPr/>
        </p:nvSpPr>
        <p:spPr>
          <a:xfrm>
            <a:off x="6126480" y="1280160"/>
            <a:ext cx="5486400" cy="365760"/>
          </a:xfrm>
          <a:prstGeom prst="rect">
            <a:avLst/>
          </a:prstGeom>
          <a:noFill/>
          <a:ln/>
        </p:spPr>
        <p:txBody>
          <a:bodyPr wrap="square" rtlCol="0" anchor="ctr"/>
          <a:lstStyle/>
          <a:p>
            <a:pPr indent="0" marL="0">
              <a:buNone/>
            </a:pPr>
            <a:r>
              <a:rPr lang="en-US" sz="1500" b="1" dirty="0">
                <a:solidFill>
                  <a:srgbClr val="1A1A1A"/>
                </a:solidFill>
                <a:latin typeface="Calibri" pitchFamily="34" charset="0"/>
                <a:ea typeface="Calibri" pitchFamily="34" charset="-122"/>
                <a:cs typeface="Calibri" pitchFamily="34" charset="-120"/>
              </a:rPr>
              <a:t>Four sweet categories are 72% of the shelf</a:t>
            </a:r>
            <a:endParaRPr lang="en-US" sz="1500" dirty="0"/>
          </a:p>
        </p:txBody>
      </p:sp>
      <p:graphicFrame>
        <p:nvGraphicFramePr>
          <p:cNvPr id="5" name="Chart 1" descr=""/>
          <p:cNvGraphicFramePr/>
          <p:nvPr/>
        </p:nvGraphicFramePr>
        <p:xfrm>
          <a:off x="6126480" y="1645920"/>
          <a:ext cx="5486400" cy="3931920"/>
        </p:xfrm>
        <a:graphic xmlns:a="http://schemas.openxmlformats.org/drawingml/2006/main">
          <a:graphicData uri="http://schemas.openxmlformats.org/drawingml/2006/chart">
            <c:chart xmlns:c="http://schemas.openxmlformats.org/drawingml/2006/chart" r:id="rId2"/>
          </a:graphicData>
        </a:graphic>
      </p:graphicFrame>
      <p:sp>
        <p:nvSpPr>
          <p:cNvPr id="6" name="Text 2"/>
          <p:cNvSpPr/>
          <p:nvPr/>
        </p:nvSpPr>
        <p:spPr>
          <a:xfrm>
            <a:off x="548640" y="6035040"/>
            <a:ext cx="11064240" cy="365760"/>
          </a:xfrm>
          <a:prstGeom prst="rect">
            <a:avLst/>
          </a:prstGeom>
          <a:noFill/>
          <a:ln/>
        </p:spPr>
        <p:txBody>
          <a:bodyPr wrap="square" rtlCol="0" anchor="ctr"/>
          <a:lstStyle/>
          <a:p>
            <a:pPr indent="0" marL="0">
              <a:buNone/>
            </a:pPr>
            <a:r>
              <a:rPr lang="en-US" sz="1300" i="1" dirty="0">
                <a:solidFill>
                  <a:srgbClr val="6E6E6E"/>
                </a:solidFill>
                <a:latin typeface="Calibri" pitchFamily="34" charset="0"/>
                <a:ea typeface="Calibri" pitchFamily="34" charset="-122"/>
                <a:cs typeface="Calibri" pitchFamily="34" charset="-120"/>
              </a:rPr>
              <a:t>Nuts, seeds and dried fruit together account for 2.0% of the European snack aisle.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64240" cy="640080"/>
          </a:xfrm>
          <a:prstGeom prst="rect">
            <a:avLst/>
          </a:prstGeom>
          <a:noFill/>
          <a:ln/>
        </p:spPr>
        <p:txBody>
          <a:bodyPr wrap="square" rtlCol="0" anchor="ctr"/>
          <a:lstStyle/>
          <a:p>
            <a:pPr indent="0" marL="0">
              <a:buNone/>
            </a:pPr>
            <a:r>
              <a:rPr lang="en-US" sz="3400" b="1" dirty="0">
                <a:solidFill>
                  <a:srgbClr val="1A1A1A"/>
                </a:solidFill>
                <a:latin typeface="Cambria" pitchFamily="34" charset="0"/>
                <a:ea typeface="Cambria" pitchFamily="34" charset="-122"/>
                <a:cs typeface="Cambria" pitchFamily="34" charset="-120"/>
              </a:rPr>
              <a:t>Savoury snacks have already solved sugar</a:t>
            </a:r>
            <a:endParaRPr lang="en-US" sz="3400" dirty="0"/>
          </a:p>
        </p:txBody>
      </p:sp>
      <p:sp>
        <p:nvSpPr>
          <p:cNvPr id="3" name="Text 1"/>
          <p:cNvSpPr/>
          <p:nvPr/>
        </p:nvSpPr>
        <p:spPr>
          <a:xfrm>
            <a:off x="548640" y="1097280"/>
            <a:ext cx="11064240" cy="365760"/>
          </a:xfrm>
          <a:prstGeom prst="rect">
            <a:avLst/>
          </a:prstGeom>
          <a:noFill/>
          <a:ln/>
        </p:spPr>
        <p:txBody>
          <a:bodyPr wrap="square" rtlCol="0" anchor="ctr"/>
          <a:lstStyle/>
          <a:p>
            <a:pPr indent="0" marL="0">
              <a:buNone/>
            </a:pPr>
            <a:r>
              <a:rPr lang="en-US" sz="1500" dirty="0">
                <a:solidFill>
                  <a:srgbClr val="6E6E6E"/>
                </a:solidFill>
                <a:latin typeface="Calibri" pitchFamily="34" charset="0"/>
                <a:ea typeface="Calibri" pitchFamily="34" charset="-122"/>
                <a:cs typeface="Calibri" pitchFamily="34" charset="-120"/>
              </a:rPr>
              <a:t>Chips &amp; Savoury: 25,541 products, split by quadrant</a:t>
            </a:r>
            <a:endParaRPr lang="en-US" sz="1500" dirty="0"/>
          </a:p>
        </p:txBody>
      </p:sp>
      <p:graphicFrame>
        <p:nvGraphicFramePr>
          <p:cNvPr id="4" name="Chart 0" descr=""/>
          <p:cNvGraphicFramePr/>
          <p:nvPr/>
        </p:nvGraphicFramePr>
        <p:xfrm>
          <a:off x="548640" y="1645920"/>
          <a:ext cx="6035040" cy="329184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6858000" y="1737360"/>
            <a:ext cx="4754880" cy="3108960"/>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92% of the category is already low-sugar.
</a:t>
            </a:r>
            <a:endParaRPr lang="en-US" sz="1400" dirty="0"/>
          </a:p>
          <a:p>
            <a:pPr indent="0" marL="0">
              <a:buNone/>
            </a:pPr>
            <a:r>
              <a:rPr lang="en-US" sz="1400" dirty="0">
                <a:solidFill>
                  <a:srgbClr val="1A1A1A"/>
                </a:solidFill>
                <a:latin typeface="Calibri" pitchFamily="34" charset="0"/>
                <a:ea typeface="Calibri" pitchFamily="34" charset="-122"/>
                <a:cs typeface="Calibri" pitchFamily="34" charset="-120"/>
              </a:rPr>
              <a:t>It fails on protein alone.
</a:t>
            </a:r>
            <a:endParaRPr lang="en-US" sz="1400" dirty="0"/>
          </a:p>
          <a:p>
            <a:pPr indent="0" marL="0">
              <a:buNone/>
            </a:pPr>
            <a:r>
              <a:rPr lang="en-US" sz="1400" dirty="0">
                <a:solidFill>
                  <a:srgbClr val="1A1A1A"/>
                </a:solidFill>
                <a:latin typeface="Calibri" pitchFamily="34" charset="0"/>
                <a:ea typeface="Calibri" pitchFamily="34" charset="-122"/>
                <a:cs typeface="Calibri" pitchFamily="34" charset="-120"/>
              </a:rPr>
              <a:t>Adding a few grams of protein to a cracker is a far shorter road than stripping 35g of sugar out of a chocolate bar and keeping it edible.
</a:t>
            </a:r>
            <a:endParaRPr lang="en-US" sz="1400" dirty="0"/>
          </a:p>
          <a:p>
            <a:pPr indent="0" marL="0">
              <a:buNone/>
            </a:pPr>
            <a:r>
              <a:rPr lang="en-US" sz="1400" dirty="0">
                <a:solidFill>
                  <a:srgbClr val="1A1A1A"/>
                </a:solidFill>
                <a:latin typeface="Calibri" pitchFamily="34" charset="0"/>
                <a:ea typeface="Calibri" pitchFamily="34" charset="-122"/>
                <a:cs typeface="Calibri" pitchFamily="34" charset="-120"/>
              </a:rPr>
              <a:t>Nuts &amp; Seeds has the better hit rate (56% clear the bar) but only 2,954 products. It proves the profile is achievable. It is not a platform.</a:t>
            </a:r>
            <a:endParaRPr lang="en-US" sz="1400" dirty="0"/>
          </a:p>
        </p:txBody>
      </p:sp>
      <p:sp>
        <p:nvSpPr>
          <p:cNvPr id="6" name="Shape 3"/>
          <p:cNvSpPr/>
          <p:nvPr/>
        </p:nvSpPr>
        <p:spPr>
          <a:xfrm>
            <a:off x="548640" y="5120640"/>
            <a:ext cx="11064240" cy="1188720"/>
          </a:xfrm>
          <a:prstGeom prst="roundRect">
            <a:avLst>
              <a:gd name="adj" fmla="val 7692"/>
            </a:avLst>
          </a:prstGeom>
          <a:solidFill>
            <a:srgbClr val="E8F5E9"/>
          </a:solidFill>
          <a:ln w="12700">
            <a:solidFill>
              <a:srgbClr val="E8F5E9"/>
            </a:solidFill>
            <a:prstDash val="solid"/>
          </a:ln>
        </p:spPr>
      </p:sp>
      <p:sp>
        <p:nvSpPr>
          <p:cNvPr id="7" name="Text 4"/>
          <p:cNvSpPr/>
          <p:nvPr/>
        </p:nvSpPr>
        <p:spPr>
          <a:xfrm>
            <a:off x="822960" y="5303520"/>
            <a:ext cx="10515600" cy="822960"/>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Recommendation:  </a:t>
            </a:r>
            <a:pPr indent="0" marL="0">
              <a:buNone/>
            </a:pPr>
            <a:r>
              <a:rPr lang="en-US" sz="1400" dirty="0">
                <a:solidFill>
                  <a:srgbClr val="1A1A1A"/>
                </a:solidFill>
                <a:latin typeface="Calibri" pitchFamily="34" charset="0"/>
                <a:ea typeface="Calibri" pitchFamily="34" charset="-122"/>
                <a:cs typeface="Calibri" pitchFamily="34" charset="-120"/>
              </a:rPr>
              <a:t>the biggest market opportunity is in Savoury Snacks (chips &amp; crackers), targeting products with </a:t>
            </a:r>
            <a:pPr indent="0" marL="0">
              <a:buNone/>
            </a:pPr>
            <a:r>
              <a:rPr lang="en-US" sz="1400" b="1" dirty="0">
                <a:solidFill>
                  <a:srgbClr val="2E7D32"/>
                </a:solidFill>
                <a:latin typeface="Calibri" pitchFamily="34" charset="0"/>
                <a:ea typeface="Calibri" pitchFamily="34" charset="-122"/>
                <a:cs typeface="Calibri" pitchFamily="34" charset="-120"/>
              </a:rPr>
              <a:t>15g of protein and less than 5g of sugar</a:t>
            </a:r>
            <a:pPr indent="0" marL="0">
              <a:buNone/>
            </a:pPr>
            <a:r>
              <a:rPr lang="en-US" sz="1400" dirty="0">
                <a:solidFill>
                  <a:srgbClr val="1A1A1A"/>
                </a:solidFill>
                <a:latin typeface="Calibri" pitchFamily="34" charset="0"/>
                <a:ea typeface="Calibri" pitchFamily="34" charset="-122"/>
                <a:cs typeface="Calibri" pitchFamily="34" charset="-120"/>
              </a:rPr>
              <a:t>.  15g is the 75th percentile of products already succeeding in that quadrant — achievable, not aspirational.</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1A1A"/>
        </a:solidFill>
      </p:bgPr>
    </p:bg>
    <p:spTree>
      <p:nvGrpSpPr>
        <p:cNvPr id="1" name=""/>
        <p:cNvGrpSpPr/>
        <p:nvPr/>
      </p:nvGrpSpPr>
      <p:grpSpPr>
        <a:xfrm>
          <a:off x="0" y="0"/>
          <a:ext cx="0" cy="0"/>
          <a:chOff x="0" y="0"/>
          <a:chExt cx="0" cy="0"/>
        </a:xfrm>
      </p:grpSpPr>
      <p:sp>
        <p:nvSpPr>
          <p:cNvPr id="2" name="Text 0"/>
          <p:cNvSpPr/>
          <p:nvPr/>
        </p:nvSpPr>
        <p:spPr>
          <a:xfrm>
            <a:off x="548640" y="457200"/>
            <a:ext cx="11064240" cy="640080"/>
          </a:xfrm>
          <a:prstGeom prst="rect">
            <a:avLst/>
          </a:prstGeom>
          <a:noFill/>
          <a:ln/>
        </p:spPr>
        <p:txBody>
          <a:bodyPr wrap="square"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But savoury means salt</a:t>
            </a:r>
            <a:endParaRPr lang="en-US" sz="3400" dirty="0"/>
          </a:p>
        </p:txBody>
      </p:sp>
      <p:sp>
        <p:nvSpPr>
          <p:cNvPr id="3" name="Text 1"/>
          <p:cNvSpPr/>
          <p:nvPr/>
        </p:nvSpPr>
        <p:spPr>
          <a:xfrm>
            <a:off x="548640" y="1097280"/>
            <a:ext cx="11064240" cy="365760"/>
          </a:xfrm>
          <a:prstGeom prst="rect">
            <a:avLst/>
          </a:prstGeom>
          <a:noFill/>
          <a:ln/>
        </p:spPr>
        <p:txBody>
          <a:bodyPr wrap="square" rtlCol="0" anchor="ctr"/>
          <a:lstStyle/>
          <a:p>
            <a:pPr indent="0" marL="0">
              <a:buNone/>
            </a:pPr>
            <a:r>
              <a:rPr lang="en-US" sz="1400" dirty="0">
                <a:solidFill>
                  <a:srgbClr val="A5D6A7"/>
                </a:solidFill>
                <a:latin typeface="Calibri" pitchFamily="34" charset="0"/>
                <a:ea typeface="Calibri" pitchFamily="34" charset="-122"/>
                <a:cs typeface="Calibri" pitchFamily="34" charset="-120"/>
              </a:rPr>
              <a:t>I stress-tested my own recommendation against Nutri-Score — an external judgement that uses a variable the nutrient matrix cannot see.</a:t>
            </a:r>
            <a:endParaRPr lang="en-US" sz="1400" dirty="0"/>
          </a:p>
        </p:txBody>
      </p:sp>
      <p:graphicFrame>
        <p:nvGraphicFramePr>
          <p:cNvPr id="4" name="Chart 0" descr=""/>
          <p:cNvGraphicFramePr/>
          <p:nvPr/>
        </p:nvGraphicFramePr>
        <p:xfrm>
          <a:off x="548640" y="1737360"/>
          <a:ext cx="5852160" cy="301752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6766560" y="1737360"/>
            <a:ext cx="2194560" cy="822960"/>
          </a:xfrm>
          <a:prstGeom prst="rect">
            <a:avLst/>
          </a:prstGeom>
          <a:noFill/>
          <a:ln/>
        </p:spPr>
        <p:txBody>
          <a:bodyPr wrap="square" lIns="0" tIns="0" rIns="0" bIns="0" rtlCol="0" anchor="ctr"/>
          <a:lstStyle/>
          <a:p>
            <a:pPr indent="0" marL="0">
              <a:buNone/>
            </a:pPr>
            <a:r>
              <a:rPr lang="en-US" sz="4800" b="1" dirty="0">
                <a:solidFill>
                  <a:srgbClr val="FFB74D"/>
                </a:solidFill>
                <a:latin typeface="Cambria" pitchFamily="34" charset="0"/>
                <a:ea typeface="Cambria" pitchFamily="34" charset="-122"/>
                <a:cs typeface="Cambria" pitchFamily="34" charset="-120"/>
              </a:rPr>
              <a:t>9.2%</a:t>
            </a:r>
            <a:endParaRPr lang="en-US" sz="4800" dirty="0"/>
          </a:p>
        </p:txBody>
      </p:sp>
      <p:sp>
        <p:nvSpPr>
          <p:cNvPr id="6" name="Text 3"/>
          <p:cNvSpPr/>
          <p:nvPr/>
        </p:nvSpPr>
        <p:spPr>
          <a:xfrm>
            <a:off x="6766560" y="2514600"/>
            <a:ext cx="2194560" cy="64008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of blue-ocean savoury products score Nutri-Score A or B</a:t>
            </a:r>
            <a:endParaRPr lang="en-US" sz="1200" dirty="0"/>
          </a:p>
        </p:txBody>
      </p:sp>
      <p:sp>
        <p:nvSpPr>
          <p:cNvPr id="7" name="Text 4"/>
          <p:cNvSpPr/>
          <p:nvPr/>
        </p:nvSpPr>
        <p:spPr>
          <a:xfrm>
            <a:off x="9326880" y="1737360"/>
            <a:ext cx="2286000" cy="822960"/>
          </a:xfrm>
          <a:prstGeom prst="rect">
            <a:avLst/>
          </a:prstGeom>
          <a:noFill/>
          <a:ln/>
        </p:spPr>
        <p:txBody>
          <a:bodyPr wrap="square" lIns="0" tIns="0" rIns="0" bIns="0" rtlCol="0" anchor="ctr"/>
          <a:lstStyle/>
          <a:p>
            <a:pPr indent="0" marL="0">
              <a:buNone/>
            </a:pPr>
            <a:r>
              <a:rPr lang="en-US" sz="4800" b="1" dirty="0">
                <a:solidFill>
                  <a:srgbClr val="FFB74D"/>
                </a:solidFill>
                <a:latin typeface="Cambria" pitchFamily="34" charset="0"/>
                <a:ea typeface="Cambria" pitchFamily="34" charset="-122"/>
                <a:cs typeface="Cambria" pitchFamily="34" charset="-120"/>
              </a:rPr>
              <a:t>1.78g</a:t>
            </a:r>
            <a:endParaRPr lang="en-US" sz="4800" dirty="0"/>
          </a:p>
        </p:txBody>
      </p:sp>
      <p:sp>
        <p:nvSpPr>
          <p:cNvPr id="8" name="Text 5"/>
          <p:cNvSpPr/>
          <p:nvPr/>
        </p:nvSpPr>
        <p:spPr>
          <a:xfrm>
            <a:off x="9326880" y="2514600"/>
            <a:ext cx="2286000" cy="64008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median salt — against 0.14g for chocolate</a:t>
            </a:r>
            <a:endParaRPr lang="en-US" sz="1200" dirty="0"/>
          </a:p>
        </p:txBody>
      </p:sp>
      <p:sp>
        <p:nvSpPr>
          <p:cNvPr id="9" name="Text 6"/>
          <p:cNvSpPr/>
          <p:nvPr/>
        </p:nvSpPr>
        <p:spPr>
          <a:xfrm>
            <a:off x="6766560" y="3291840"/>
            <a:ext cx="4846320" cy="155448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Nutri-Score validates the quadrants — the sugar trap is 77.3% grade E. But it also finds that my own recommendation scores worst inside my own blue ocean: 9.2% A/B, against 13.5% for the blue ocean overall and 20.0% for Nuts &amp; Seeds.
</a:t>
            </a:r>
            <a:endParaRPr lang="en-US" sz="1250" dirty="0"/>
          </a:p>
          <a:p>
            <a:pPr indent="0" marL="0">
              <a:buNone/>
            </a:pPr>
            <a:r>
              <a:rPr lang="en-US" sz="1250" b="1" dirty="0">
                <a:solidFill>
                  <a:srgbClr val="FFFFFF"/>
                </a:solidFill>
                <a:latin typeface="Calibri" pitchFamily="34" charset="0"/>
                <a:ea typeface="Calibri" pitchFamily="34" charset="-122"/>
                <a:cs typeface="Calibri" pitchFamily="34" charset="-120"/>
              </a:rPr>
              <a:t>It does not overturn the finding. It changes the brief.</a:t>
            </a:r>
            <a:endParaRPr lang="en-US" sz="1250" dirty="0"/>
          </a:p>
        </p:txBody>
      </p:sp>
      <p:sp>
        <p:nvSpPr>
          <p:cNvPr id="10" name="Shape 7"/>
          <p:cNvSpPr/>
          <p:nvPr/>
        </p:nvSpPr>
        <p:spPr>
          <a:xfrm>
            <a:off x="548640" y="5120640"/>
            <a:ext cx="11064240" cy="1097280"/>
          </a:xfrm>
          <a:prstGeom prst="roundRect">
            <a:avLst>
              <a:gd name="adj" fmla="val 8333"/>
            </a:avLst>
          </a:prstGeom>
          <a:solidFill>
            <a:srgbClr val="2E7D32"/>
          </a:solidFill>
          <a:ln w="12700">
            <a:solidFill>
              <a:srgbClr val="2E7D32"/>
            </a:solidFill>
            <a:prstDash val="solid"/>
          </a:ln>
        </p:spPr>
      </p:sp>
      <p:sp>
        <p:nvSpPr>
          <p:cNvPr id="11" name="Text 8"/>
          <p:cNvSpPr/>
          <p:nvPr/>
        </p:nvSpPr>
        <p:spPr>
          <a:xfrm>
            <a:off x="822960" y="5349240"/>
            <a:ext cx="1051560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The brief is three numbers, not two:   15g protein   ·   under 5g sugar   ·   under 1.0g salt</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2026-07-17T23:43:58Z</dcterms:created>
  <dcterms:modified xsi:type="dcterms:W3CDTF">2026-07-17T23:43:58Z</dcterms:modified>
</cp:coreProperties>
</file>